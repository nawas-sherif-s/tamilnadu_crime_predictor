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Artificial Intelligence in Crime Pattern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 Machine Learning Approach for Tamil Nadu</a:t>
            </a:r>
          </a:p>
          <a:p>
            <a:r>
              <a:t>Presented by: [Your Name]</a:t>
            </a:r>
          </a:p>
          <a:p>
            <a:r>
              <a:t>Date: [Current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AI is the simulation of human intelligence in machines</a:t>
            </a:r>
          </a:p>
          <a:p>
            <a:r>
              <a:t>• Enables computers to learn, reason, and make decisions</a:t>
            </a:r>
          </a:p>
          <a:p>
            <a:r>
              <a:t>• Key components:</a:t>
            </a:r>
          </a:p>
          <a:p>
            <a:r>
              <a:t>  - Machine Learning (ML)</a:t>
            </a:r>
          </a:p>
          <a:p>
            <a:r>
              <a:t>  - Deep Learning</a:t>
            </a:r>
          </a:p>
          <a:p>
            <a:r>
              <a:t>  - Natural Language Processing</a:t>
            </a:r>
          </a:p>
          <a:p>
            <a:r>
              <a:t>  - Computer Vision</a:t>
            </a:r>
          </a:p>
          <a:p>
            <a:r>
              <a:t>• Applications: Healthcare, Finance, Transportation,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2743200" cy="731520"/>
          </a:xfrm>
          <a:prstGeom prst="rect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286000"/>
            <a:ext cx="2743200" cy="731520"/>
          </a:xfrm>
          <a:prstGeom prst="rect">
            <a:avLst/>
          </a:prstGeom>
          <a:solidFill>
            <a:srgbClr val="48D1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200400"/>
            <a:ext cx="2743200" cy="731520"/>
          </a:xfrm>
          <a:prstGeom prst="rect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NLP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4114800"/>
            <a:ext cx="2743200" cy="731520"/>
          </a:xfrm>
          <a:prstGeom prst="rect">
            <a:avLst/>
          </a:prstGeom>
          <a:solidFill>
            <a:srgbClr val="FFDA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Computer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Machine Learning in Crime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Supervised Learning: Learning from labeled data</a:t>
            </a:r>
          </a:p>
          <a:p>
            <a:r>
              <a:t>• Classification: Predicting categories (crime types)</a:t>
            </a:r>
          </a:p>
          <a:p>
            <a:r>
              <a:t>• Algorithms Used:</a:t>
            </a:r>
          </a:p>
          <a:p>
            <a:r>
              <a:t>  - Logistic Regression</a:t>
            </a:r>
          </a:p>
          <a:p>
            <a:r>
              <a:t>  - Decision Trees</a:t>
            </a:r>
          </a:p>
          <a:p>
            <a:r>
              <a:t>  - Random Forest</a:t>
            </a:r>
          </a:p>
          <a:p>
            <a:r>
              <a:t>• Benefits:</a:t>
            </a:r>
          </a:p>
          <a:p>
            <a:r>
              <a:t>  - Pattern Recognition</a:t>
            </a:r>
          </a:p>
          <a:p>
            <a:r>
              <a:t>  - Predictive Analytics</a:t>
            </a:r>
          </a:p>
          <a:p>
            <a:r>
              <a:t>  - Resource Optimization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914400"/>
            <a:ext cx="2286000" cy="731520"/>
          </a:xfrm>
          <a:prstGeom prst="ellipse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Data Input</a:t>
            </a:r>
          </a:p>
        </p:txBody>
      </p:sp>
      <p:sp>
        <p:nvSpPr>
          <p:cNvPr id="5" name="Down Arrow 4"/>
          <p:cNvSpPr/>
          <p:nvPr/>
        </p:nvSpPr>
        <p:spPr>
          <a:xfrm>
            <a:off x="6400800" y="1828800"/>
            <a:ext cx="914400" cy="457200"/>
          </a:xfrm>
          <a:prstGeom prst="down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0" y="2560320"/>
            <a:ext cx="2286000" cy="731520"/>
          </a:xfrm>
          <a:prstGeom prst="ellipse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ML Algorithm</a:t>
            </a:r>
          </a:p>
        </p:txBody>
      </p:sp>
      <p:sp>
        <p:nvSpPr>
          <p:cNvPr id="7" name="Down Arrow 6"/>
          <p:cNvSpPr/>
          <p:nvPr/>
        </p:nvSpPr>
        <p:spPr>
          <a:xfrm>
            <a:off x="6400800" y="3474720"/>
            <a:ext cx="914400" cy="457200"/>
          </a:xfrm>
          <a:prstGeom prst="down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4206240"/>
            <a:ext cx="2286000" cy="731520"/>
          </a:xfrm>
          <a:prstGeom prst="ellipse">
            <a:avLst/>
          </a:prstGeom>
          <a:solidFill>
            <a:srgbClr val="FF63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Tamil Nadu Crime Pattern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• Objective: Predict crime types based on various factors</a:t>
            </a:r>
          </a:p>
          <a:p>
            <a:r>
              <a:t>• Dataset: 7,000 synthetic crime records</a:t>
            </a:r>
          </a:p>
          <a:p>
            <a:r>
              <a:t>• Features: 25 attributes including:</a:t>
            </a:r>
          </a:p>
          <a:p>
            <a:r>
              <a:t>  - Geographic data (District, Taluk)</a:t>
            </a:r>
          </a:p>
          <a:p>
            <a:r>
              <a:t>  - Temporal data (Time, Day, Month)</a:t>
            </a:r>
          </a:p>
          <a:p>
            <a:r>
              <a:t>  - Demographic data (Age Group)</a:t>
            </a:r>
          </a:p>
          <a:p>
            <a:r>
              <a:t>  - Environmental factors (Area Type, Public Events)</a:t>
            </a:r>
          </a:p>
          <a:p>
            <a:r>
              <a:t>• Target: 10 different crime types</a:t>
            </a:r>
          </a:p>
        </p:txBody>
      </p:sp>
      <p:sp>
        <p:nvSpPr>
          <p:cNvPr id="4" name="Hexagon 3"/>
          <p:cNvSpPr/>
          <p:nvPr/>
        </p:nvSpPr>
        <p:spPr>
          <a:xfrm>
            <a:off x="5943600" y="1371600"/>
            <a:ext cx="1828800" cy="1371600"/>
          </a:xfrm>
          <a:prstGeom prst="hexagon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Tamil Nadu</a:t>
            </a:r>
          </a:p>
          <a:p>
            <a:r>
              <a:t>22 Districts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1371600" cy="54864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7K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3200400"/>
            <a:ext cx="1371600" cy="54864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25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4114800"/>
            <a:ext cx="1371600" cy="548640"/>
          </a:xfrm>
          <a:prstGeom prst="rect">
            <a:avLst/>
          </a:prstGeom>
          <a:solidFill>
            <a:srgbClr val="FF63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10 Crime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Dataset Features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Geographic Features:</a:t>
            </a:r>
          </a:p>
          <a:p>
            <a:r>
              <a:t>• District (22 districts in Tamil Nadu)</a:t>
            </a:r>
          </a:p>
          <a:p>
            <a:r>
              <a:t>• Taluk (Sub-districts)</a:t>
            </a:r>
          </a:p>
          <a:p>
            <a:r>
              <a:t>• Area Type (Urban/Semi-Urban/Rural)</a:t>
            </a:r>
          </a:p>
          <a:p/>
          <a:p>
            <a:r>
              <a:t>Temporal Features:</a:t>
            </a:r>
          </a:p>
          <a:p>
            <a:r>
              <a:t>• Time of Day (Morning/Afternoon/Evening/Night)</a:t>
            </a:r>
          </a:p>
          <a:p>
            <a:r>
              <a:t>• Day of Week (Monday-Sunday)</a:t>
            </a:r>
          </a:p>
          <a:p>
            <a:r>
              <a:t>• Month (1-12)</a:t>
            </a:r>
          </a:p>
          <a:p/>
          <a:p>
            <a:r>
              <a:t>Demographic &amp; Social:</a:t>
            </a:r>
          </a:p>
          <a:p>
            <a:r>
              <a:t>• Age Group (18-25, 26-35, 36-45, 46-60, 60+)</a:t>
            </a:r>
          </a:p>
          <a:p>
            <a:r>
              <a:t>• Public Event (0/1)</a:t>
            </a:r>
          </a:p>
          <a:p>
            <a:r>
              <a:t>• Population Density, Literacy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14400"/>
            <a:ext cx="2286000" cy="914400"/>
          </a:xfrm>
          <a:prstGeom prst="rect">
            <a:avLst/>
          </a:prstGeom>
          <a:solidFill>
            <a:srgbClr val="87CE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Geographic</a:t>
            </a:r>
          </a:p>
          <a:p>
            <a:r>
              <a:t>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286000"/>
            <a:ext cx="2286000" cy="914400"/>
          </a:xfrm>
          <a:prstGeom prst="rect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Temporal</a:t>
            </a:r>
          </a:p>
          <a:p>
            <a:r>
              <a:t>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657600"/>
            <a:ext cx="2286000" cy="91440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Demographic</a:t>
            </a:r>
          </a:p>
          <a:p>
            <a:r>
              <a:t>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Data Generation</a:t>
            </a:r>
          </a:p>
          <a:p>
            <a:r>
              <a:t>   • Synthetic dataset creation with realistic patterns</a:t>
            </a:r>
          </a:p>
          <a:p>
            <a:r>
              <a:t>   </a:t>
            </a:r>
          </a:p>
          <a:p>
            <a:r>
              <a:t>2. Data Preprocessing</a:t>
            </a:r>
          </a:p>
          <a:p>
            <a:r>
              <a:t>   • Feature encoding (Label/One-hot encoding)</a:t>
            </a:r>
          </a:p>
          <a:p>
            <a:r>
              <a:t>   • Data scaling and normalization</a:t>
            </a:r>
          </a:p>
          <a:p>
            <a:r>
              <a:t>   </a:t>
            </a:r>
          </a:p>
          <a:p>
            <a:r>
              <a:t>3. Model Training</a:t>
            </a:r>
          </a:p>
          <a:p>
            <a:r>
              <a:t>   • Multiple algorithm comparison</a:t>
            </a:r>
          </a:p>
          <a:p>
            <a:r>
              <a:t>   • Hyperparameter optimization</a:t>
            </a:r>
          </a:p>
          <a:p>
            <a:r>
              <a:t>   </a:t>
            </a:r>
          </a:p>
          <a:p>
            <a:r>
              <a:t>4. Model Evaluation</a:t>
            </a:r>
          </a:p>
          <a:p>
            <a:r>
              <a:t>   • Accuracy metrics</a:t>
            </a:r>
          </a:p>
          <a:p>
            <a:r>
              <a:t>   • Confusion matrix analysis</a:t>
            </a:r>
          </a:p>
          <a:p>
            <a:r>
              <a:t>   </a:t>
            </a:r>
          </a:p>
          <a:p>
            <a:r>
              <a:t>5. Deployment</a:t>
            </a:r>
          </a:p>
          <a:p>
            <a:r>
              <a:t>   • Flask web application</a:t>
            </a:r>
          </a:p>
          <a:p>
            <a:r>
              <a:t>   • Real-time predictions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1645920" cy="54864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Data Gen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69280" y="2103120"/>
            <a:ext cx="548640" cy="27432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0" y="1920240"/>
            <a:ext cx="1645920" cy="548640"/>
          </a:xfrm>
          <a:prstGeom prst="rect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Preprocess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35040" y="2651760"/>
            <a:ext cx="548640" cy="27432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468880"/>
            <a:ext cx="1645920" cy="548640"/>
          </a:xfrm>
          <a:prstGeom prst="rect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Training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00800" y="3200400"/>
            <a:ext cx="548640" cy="27432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3017520"/>
            <a:ext cx="1645920" cy="548640"/>
          </a:xfrm>
          <a:prstGeom prst="rect">
            <a:avLst/>
          </a:prstGeom>
          <a:solidFill>
            <a:srgbClr val="87CE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Evaluation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66560" y="3749039"/>
            <a:ext cx="548640" cy="27432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3566160"/>
            <a:ext cx="1645920" cy="548640"/>
          </a:xfrm>
          <a:prstGeom prst="rect">
            <a:avLst/>
          </a:prstGeom>
          <a:solidFill>
            <a:srgbClr val="FF63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Deploy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Model 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Algorithm Comparison:</a:t>
            </a:r>
          </a:p>
          <a:p>
            <a:r>
              <a:t>• Decision Tree: 100% accuracy (100% training data)</a:t>
            </a:r>
          </a:p>
          <a:p>
            <a:r>
              <a:t>• Random Forest: 95%+ accuracy</a:t>
            </a:r>
          </a:p>
          <a:p>
            <a:r>
              <a:t>• Logistic Regression: ~18% accuracy (with train/test split)</a:t>
            </a:r>
          </a:p>
          <a:p/>
          <a:p>
            <a:r>
              <a:t>Key Insights:</a:t>
            </a:r>
          </a:p>
          <a:p>
            <a:r>
              <a:t>• Location (District/Taluk) is most predictive feature</a:t>
            </a:r>
          </a:p>
          <a:p>
            <a:r>
              <a:t>• Time patterns significantly influence crime types</a:t>
            </a:r>
          </a:p>
          <a:p>
            <a:r>
              <a:t>• Age group and public events are important factors</a:t>
            </a:r>
          </a:p>
          <a:p>
            <a:r>
              <a:t>• Overfitting observed with 100% training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731520" cy="2286000"/>
          </a:xfrm>
          <a:prstGeom prst="rect">
            <a:avLst/>
          </a:prstGeom>
          <a:solidFill>
            <a:srgbClr val="32C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Decision</a:t>
            </a:r>
          </a:p>
          <a:p>
            <a:r>
              <a:t>Tree</a:t>
            </a:r>
          </a:p>
          <a:p>
            <a:r>
              <a:t>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731520" cy="1828800"/>
          </a:xfrm>
          <a:prstGeom prst="rect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Random</a:t>
            </a:r>
          </a:p>
          <a:p>
            <a:r>
              <a:t>Forest</a:t>
            </a:r>
          </a:p>
          <a:p>
            <a:r>
              <a:t>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3200400"/>
            <a:ext cx="731520" cy="457200"/>
          </a:xfrm>
          <a:prstGeom prst="rect">
            <a:avLst/>
          </a:prstGeom>
          <a:solidFill>
            <a:srgbClr val="FF63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Logistic</a:t>
            </a:r>
          </a:p>
          <a:p>
            <a:r>
              <a:t>Regression</a:t>
            </a:r>
          </a:p>
          <a:p>
            <a:r>
              <a:t>18%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Web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User Interface:</a:t>
            </a:r>
          </a:p>
          <a:p>
            <a:r>
              <a:t>• Clean, professional design with Bootstrap</a:t>
            </a:r>
          </a:p>
          <a:p>
            <a:r>
              <a:t>• Responsive layout for all devices</a:t>
            </a:r>
          </a:p>
          <a:p/>
          <a:p>
            <a:r>
              <a:t>Prediction Form:</a:t>
            </a:r>
          </a:p>
          <a:p>
            <a:r>
              <a:t>• Input fields for all relevant features</a:t>
            </a:r>
          </a:p>
          <a:p>
            <a:r>
              <a:t>• Dynamic taluk selection based on district</a:t>
            </a:r>
          </a:p>
          <a:p>
            <a:r>
              <a:t>• Real-time crime type prediction</a:t>
            </a:r>
          </a:p>
          <a:p/>
          <a:p>
            <a:r>
              <a:t>Analytics Dashboard:</a:t>
            </a:r>
          </a:p>
          <a:p>
            <a:r>
              <a:t>• Crime distribution visualizations</a:t>
            </a:r>
          </a:p>
          <a:p>
            <a:r>
              <a:t>• District-wise analysis charts</a:t>
            </a:r>
          </a:p>
          <a:p>
            <a:r>
              <a:t>• Time pattern analysis</a:t>
            </a:r>
          </a:p>
          <a:p>
            <a:r>
              <a:t>• Interactive data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14400"/>
            <a:ext cx="2286000" cy="731520"/>
          </a:xfrm>
          <a:prstGeom prst="rect">
            <a:avLst/>
          </a:prstGeom>
          <a:solidFill>
            <a:srgbClr val="87CE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Frontend (HTML/CSS/JS)</a:t>
            </a:r>
          </a:p>
        </p:txBody>
      </p:sp>
      <p:sp>
        <p:nvSpPr>
          <p:cNvPr id="5" name="Down Arrow 4"/>
          <p:cNvSpPr/>
          <p:nvPr/>
        </p:nvSpPr>
        <p:spPr>
          <a:xfrm>
            <a:off x="6400800" y="1828800"/>
            <a:ext cx="914400" cy="365760"/>
          </a:xfrm>
          <a:prstGeom prst="down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2560320"/>
            <a:ext cx="2286000" cy="731520"/>
          </a:xfrm>
          <a:prstGeom prst="rect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Flask Backend</a:t>
            </a:r>
          </a:p>
        </p:txBody>
      </p:sp>
      <p:sp>
        <p:nvSpPr>
          <p:cNvPr id="7" name="Down Arrow 6"/>
          <p:cNvSpPr/>
          <p:nvPr/>
        </p:nvSpPr>
        <p:spPr>
          <a:xfrm>
            <a:off x="6400800" y="3474720"/>
            <a:ext cx="914400" cy="365760"/>
          </a:xfrm>
          <a:prstGeom prst="down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4206240"/>
            <a:ext cx="2286000" cy="731520"/>
          </a:xfrm>
          <a:prstGeom prst="rect">
            <a:avLst/>
          </a:prstGeom>
          <a:solidFill>
            <a:srgbClr val="FF63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ML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Backend Technologies:</a:t>
            </a:r>
          </a:p>
          <a:p>
            <a:r>
              <a:t>• Python Flask framework</a:t>
            </a:r>
          </a:p>
          <a:p>
            <a:r>
              <a:t>• Scikit-learn for ML algorithms</a:t>
            </a:r>
          </a:p>
          <a:p>
            <a:r>
              <a:t>• Pandas for data manipulation</a:t>
            </a:r>
          </a:p>
          <a:p>
            <a:r>
              <a:t>• Joblib for model serialization</a:t>
            </a:r>
          </a:p>
          <a:p/>
          <a:p>
            <a:r>
              <a:t>Frontend Technologies:</a:t>
            </a:r>
          </a:p>
          <a:p>
            <a:r>
              <a:t>• HTML5, CSS3, Bootstrap 4</a:t>
            </a:r>
          </a:p>
          <a:p>
            <a:r>
              <a:t>• JavaScript for dynamic interactions</a:t>
            </a:r>
          </a:p>
          <a:p>
            <a:r>
              <a:t>• Chart.js for data visualizations</a:t>
            </a:r>
          </a:p>
          <a:p/>
          <a:p>
            <a:r>
              <a:t>Data Processing:</a:t>
            </a:r>
          </a:p>
          <a:p>
            <a:r>
              <a:t>• NumPy for numerical computations</a:t>
            </a:r>
          </a:p>
          <a:p>
            <a:r>
              <a:t>• Matplotlib/Seaborn for plotting</a:t>
            </a:r>
          </a:p>
          <a:p>
            <a:r>
              <a:t>• Custom feature engineering pipeline</a:t>
            </a:r>
          </a:p>
        </p:txBody>
      </p:sp>
      <p:sp>
        <p:nvSpPr>
          <p:cNvPr id="4" name="Hexagon 3"/>
          <p:cNvSpPr/>
          <p:nvPr/>
        </p:nvSpPr>
        <p:spPr>
          <a:xfrm>
            <a:off x="5486400" y="914400"/>
            <a:ext cx="1097280" cy="731520"/>
          </a:xfrm>
          <a:prstGeom prst="hexagon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Python</a:t>
            </a:r>
          </a:p>
        </p:txBody>
      </p:sp>
      <p:sp>
        <p:nvSpPr>
          <p:cNvPr id="5" name="Hexagon 4"/>
          <p:cNvSpPr/>
          <p:nvPr/>
        </p:nvSpPr>
        <p:spPr>
          <a:xfrm>
            <a:off x="6858000" y="914400"/>
            <a:ext cx="1097280" cy="731520"/>
          </a:xfrm>
          <a:prstGeom prst="hexagon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Flask</a:t>
            </a:r>
          </a:p>
        </p:txBody>
      </p:sp>
      <p:sp>
        <p:nvSpPr>
          <p:cNvPr id="6" name="Hexagon 5"/>
          <p:cNvSpPr/>
          <p:nvPr/>
        </p:nvSpPr>
        <p:spPr>
          <a:xfrm>
            <a:off x="5486400" y="2011680"/>
            <a:ext cx="1097280" cy="731520"/>
          </a:xfrm>
          <a:prstGeom prst="hexagon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Scikit-learn</a:t>
            </a:r>
          </a:p>
        </p:txBody>
      </p:sp>
      <p:sp>
        <p:nvSpPr>
          <p:cNvPr id="7" name="Hexagon 6"/>
          <p:cNvSpPr/>
          <p:nvPr/>
        </p:nvSpPr>
        <p:spPr>
          <a:xfrm>
            <a:off x="6858000" y="2011680"/>
            <a:ext cx="1097280" cy="731520"/>
          </a:xfrm>
          <a:prstGeom prst="hexagon">
            <a:avLst/>
          </a:prstGeom>
          <a:solidFill>
            <a:srgbClr val="87CE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Bootstrap</a:t>
            </a:r>
          </a:p>
        </p:txBody>
      </p:sp>
      <p:sp>
        <p:nvSpPr>
          <p:cNvPr id="8" name="Hexagon 7"/>
          <p:cNvSpPr/>
          <p:nvPr/>
        </p:nvSpPr>
        <p:spPr>
          <a:xfrm>
            <a:off x="5486400" y="3108960"/>
            <a:ext cx="1097280" cy="731520"/>
          </a:xfrm>
          <a:prstGeom prst="hexagon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Pandas</a:t>
            </a:r>
          </a:p>
        </p:txBody>
      </p:sp>
      <p:sp>
        <p:nvSpPr>
          <p:cNvPr id="9" name="Hexagon 8"/>
          <p:cNvSpPr/>
          <p:nvPr/>
        </p:nvSpPr>
        <p:spPr>
          <a:xfrm>
            <a:off x="6858000" y="3108960"/>
            <a:ext cx="1097280" cy="731520"/>
          </a:xfrm>
          <a:prstGeom prst="hexagon">
            <a:avLst/>
          </a:prstGeom>
          <a:solidFill>
            <a:srgbClr val="FF63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Chart.js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AI Development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Data Generation Prompt:</a:t>
            </a:r>
          </a:p>
          <a:p>
            <a:r>
              <a:t>"Create a synthetic crime dataset for Tamil Nadu with 7,000 records including geographic, temporal, and demographic features"</a:t>
            </a:r>
          </a:p>
          <a:p/>
          <a:p>
            <a:r>
              <a:t>Model Selection Prompt:</a:t>
            </a:r>
          </a:p>
          <a:p>
            <a:r>
              <a:t>"Compare multiple ML algorithms for crime classification and recommend the best approach"</a:t>
            </a:r>
          </a:p>
          <a:p/>
          <a:p>
            <a:r>
              <a:t>Feature Engineering Prompt:</a:t>
            </a:r>
          </a:p>
          <a:p>
            <a:r>
              <a:t>"Design meaningful features from raw crime data that can improve prediction accuracy"</a:t>
            </a:r>
          </a:p>
          <a:p/>
          <a:p>
            <a:r>
              <a:t>UI/UX Design Prompt:</a:t>
            </a:r>
          </a:p>
          <a:p>
            <a:r>
              <a:t>"Create a clean, professional web interface for crime prediction with user-friendly forms and visualizations" 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914400"/>
            <a:ext cx="2286000" cy="548640"/>
          </a:xfrm>
          <a:prstGeom prst="ellipse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Data Prompt</a:t>
            </a:r>
          </a:p>
        </p:txBody>
      </p:sp>
      <p:sp>
        <p:nvSpPr>
          <p:cNvPr id="5" name="Oval 4"/>
          <p:cNvSpPr/>
          <p:nvPr/>
        </p:nvSpPr>
        <p:spPr>
          <a:xfrm>
            <a:off x="5486400" y="1828800"/>
            <a:ext cx="2286000" cy="548640"/>
          </a:xfrm>
          <a:prstGeom prst="ellipse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Model Prompt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2743200"/>
            <a:ext cx="2286000" cy="548640"/>
          </a:xfrm>
          <a:prstGeom prst="ellipse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Feature Prompt</a:t>
            </a:r>
          </a:p>
        </p:txBody>
      </p:sp>
      <p:sp>
        <p:nvSpPr>
          <p:cNvPr id="7" name="Oval 6"/>
          <p:cNvSpPr/>
          <p:nvPr/>
        </p:nvSpPr>
        <p:spPr>
          <a:xfrm>
            <a:off x="5486400" y="3657600"/>
            <a:ext cx="2286000" cy="548640"/>
          </a:xfrm>
          <a:prstGeom prst="ellipse">
            <a:avLst/>
          </a:prstGeom>
          <a:solidFill>
            <a:srgbClr val="87CE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UI/UX Prompt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Data Improvements:</a:t>
            </a:r>
          </a:p>
          <a:p>
            <a:r>
              <a:t>• Integration with real crime databases</a:t>
            </a:r>
          </a:p>
          <a:p>
            <a:r>
              <a:t>• Larger dataset for better generalization</a:t>
            </a:r>
          </a:p>
          <a:p>
            <a:r>
              <a:t>• Real-time data feeds</a:t>
            </a:r>
          </a:p>
          <a:p/>
          <a:p>
            <a:r>
              <a:t>Model Enhancements:</a:t>
            </a:r>
          </a:p>
          <a:p>
            <a:r>
              <a:t>• Deep learning approaches</a:t>
            </a:r>
          </a:p>
          <a:p>
            <a:r>
              <a:t>• Ensemble methods</a:t>
            </a:r>
          </a:p>
          <a:p>
            <a:r>
              <a:t>• Time series forecasting</a:t>
            </a:r>
          </a:p>
          <a:p/>
          <a:p>
            <a:r>
              <a:t>Deployment:</a:t>
            </a:r>
          </a:p>
          <a:p>
            <a:r>
              <a:t>• Cloud platform deployment (AWS/Azure)</a:t>
            </a:r>
          </a:p>
          <a:p>
            <a:r>
              <a:t>• Mobile application development</a:t>
            </a:r>
          </a:p>
          <a:p>
            <a:r>
              <a:t>• API for third-party integration</a:t>
            </a:r>
          </a:p>
          <a:p>
            <a:r>
              <a:t>• Real-time alert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2286000" cy="73152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Real Data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560320"/>
            <a:ext cx="2286000" cy="731520"/>
          </a:xfrm>
          <a:prstGeom prst="rect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Deep Learning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749039"/>
            <a:ext cx="2286000" cy="731520"/>
          </a:xfrm>
          <a:prstGeom prst="rect">
            <a:avLst/>
          </a:prstGeom>
          <a:solidFill>
            <a:srgbClr val="87CE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Cloud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Sources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Academic Sources:</a:t>
            </a:r>
          </a:p>
          <a:p>
            <a:r>
              <a:t>• Scikit-learn Documentation: https://scikit-learn.org/</a:t>
            </a:r>
          </a:p>
          <a:p>
            <a:r>
              <a:t>• "Pattern Recognition and Machine Learning" - Bishop, C.M.</a:t>
            </a:r>
          </a:p>
          <a:p>
            <a:r>
              <a:t>• "Hands-On Machine Learning" - Aurélien Géron</a:t>
            </a:r>
          </a:p>
          <a:p/>
          <a:p>
            <a:r>
              <a:t>Technical Resources:</a:t>
            </a:r>
          </a:p>
          <a:p>
            <a:r>
              <a:t>• Flask Documentation: https://flask.palletsprojects.com/</a:t>
            </a:r>
          </a:p>
          <a:p>
            <a:r>
              <a:t>• Bootstrap Framework: https://getbootstrap.com/</a:t>
            </a:r>
          </a:p>
          <a:p>
            <a:r>
              <a:t>• Chart.js Documentation: https://www.chartjs.org/</a:t>
            </a:r>
          </a:p>
          <a:p/>
          <a:p>
            <a:r>
              <a:t>Crime Data References:</a:t>
            </a:r>
          </a:p>
          <a:p>
            <a:r>
              <a:t>• National Crime Records Bureau (NCRB) India</a:t>
            </a:r>
          </a:p>
          <a:p>
            <a:r>
              <a:t>• Tamil Nadu Police Department Statistics</a:t>
            </a:r>
          </a:p>
          <a:p>
            <a:r>
              <a:t>• Crime Pattern Analysis Research Papers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r>
              <a:t>    </a:t>
            </a:r>
          </a:p>
          <a:p>
            <a:r>
              <a:t>Contact Information:</a:t>
            </a:r>
          </a:p>
          <a:p>
            <a:r>
              <a:t>Email: [your.email@domain.com]</a:t>
            </a:r>
          </a:p>
          <a:p>
            <a:r>
              <a:t>GitHub: [your-github-profile]</a:t>
            </a:r>
          </a:p>
          <a:p>
            <a:r>
              <a:t>Project Repository: [repository-link]</a:t>
            </a:r>
          </a:p>
          <a:p/>
          <a:p>
            <a:r>
              <a:t>"AI is not about replacing human intelligence,</a:t>
            </a:r>
          </a:p>
          <a:p>
            <a:r>
              <a:t>but augmenting it for better decision making"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